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22" r:id="rId5"/>
    <p:sldId id="317" r:id="rId6"/>
    <p:sldId id="321" r:id="rId7"/>
    <p:sldId id="316" r:id="rId8"/>
    <p:sldId id="320" r:id="rId9"/>
    <p:sldId id="315" r:id="rId10"/>
    <p:sldId id="319" r:id="rId11"/>
    <p:sldId id="313" r:id="rId12"/>
    <p:sldId id="318" r:id="rId13"/>
    <p:sldId id="324" r:id="rId14"/>
    <p:sldId id="31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5057"/>
    <a:srgbClr val="324E54"/>
    <a:srgbClr val="456A73"/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A6AB6-E2DB-443D-9D71-D8465C7365A7}" v="6" dt="2025-11-13T06:44:23.158"/>
  </p1510:revLst>
</p1510:revInfo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676" autoAdjust="0"/>
  </p:normalViewPr>
  <p:slideViewPr>
    <p:cSldViewPr snapToGrid="0">
      <p:cViewPr>
        <p:scale>
          <a:sx n="82" d="100"/>
          <a:sy n="82" d="100"/>
        </p:scale>
        <p:origin x="672" y="110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wathi Chittani" userId="f6387012ae5f990c" providerId="LiveId" clId="{F64BA8FB-421E-4DA2-A597-72A16AB83D95}"/>
    <pc:docChg chg="undo custSel delSld modSld">
      <pc:chgData name="Swathi Chittani" userId="f6387012ae5f990c" providerId="LiveId" clId="{F64BA8FB-421E-4DA2-A597-72A16AB83D95}" dt="2025-11-13T06:53:29.937" v="466" actId="207"/>
      <pc:docMkLst>
        <pc:docMk/>
      </pc:docMkLst>
      <pc:sldChg chg="modSp mod">
        <pc:chgData name="Swathi Chittani" userId="f6387012ae5f990c" providerId="LiveId" clId="{F64BA8FB-421E-4DA2-A597-72A16AB83D95}" dt="2025-11-13T06:40:39.530" v="152" actId="20577"/>
        <pc:sldMkLst>
          <pc:docMk/>
          <pc:sldMk cId="2224546682" sldId="313"/>
        </pc:sldMkLst>
        <pc:spChg chg="mod">
          <ac:chgData name="Swathi Chittani" userId="f6387012ae5f990c" providerId="LiveId" clId="{F64BA8FB-421E-4DA2-A597-72A16AB83D95}" dt="2025-11-13T06:40:39.530" v="152" actId="20577"/>
          <ac:spMkLst>
            <pc:docMk/>
            <pc:sldMk cId="2224546682" sldId="313"/>
            <ac:spMk id="2" creationId="{6059FD0C-3CC0-6307-C5F3-CCBE0B14A19F}"/>
          </ac:spMkLst>
        </pc:spChg>
      </pc:sldChg>
      <pc:sldChg chg="del">
        <pc:chgData name="Swathi Chittani" userId="f6387012ae5f990c" providerId="LiveId" clId="{F64BA8FB-421E-4DA2-A597-72A16AB83D95}" dt="2025-11-13T06:35:33.437" v="5" actId="2696"/>
        <pc:sldMkLst>
          <pc:docMk/>
          <pc:sldMk cId="82250651" sldId="314"/>
        </pc:sldMkLst>
      </pc:sldChg>
      <pc:sldChg chg="modSp mod">
        <pc:chgData name="Swathi Chittani" userId="f6387012ae5f990c" providerId="LiveId" clId="{F64BA8FB-421E-4DA2-A597-72A16AB83D95}" dt="2025-11-13T06:53:21.353" v="465" actId="207"/>
        <pc:sldMkLst>
          <pc:docMk/>
          <pc:sldMk cId="554382460" sldId="316"/>
        </pc:sldMkLst>
        <pc:spChg chg="mod">
          <ac:chgData name="Swathi Chittani" userId="f6387012ae5f990c" providerId="LiveId" clId="{F64BA8FB-421E-4DA2-A597-72A16AB83D95}" dt="2025-11-13T06:53:21.353" v="465" actId="207"/>
          <ac:spMkLst>
            <pc:docMk/>
            <pc:sldMk cId="554382460" sldId="316"/>
            <ac:spMk id="3" creationId="{986F71E8-8D71-9405-3A01-01C3B8F86877}"/>
          </ac:spMkLst>
        </pc:spChg>
        <pc:spChg chg="mod">
          <ac:chgData name="Swathi Chittani" userId="f6387012ae5f990c" providerId="LiveId" clId="{F64BA8FB-421E-4DA2-A597-72A16AB83D95}" dt="2025-11-13T06:49:57.858" v="446" actId="14100"/>
          <ac:spMkLst>
            <pc:docMk/>
            <pc:sldMk cId="554382460" sldId="316"/>
            <ac:spMk id="4" creationId="{392C90C5-5198-C255-02F9-1608AA49E088}"/>
          </ac:spMkLst>
        </pc:spChg>
      </pc:sldChg>
      <pc:sldChg chg="modSp mod">
        <pc:chgData name="Swathi Chittani" userId="f6387012ae5f990c" providerId="LiveId" clId="{F64BA8FB-421E-4DA2-A597-72A16AB83D95}" dt="2025-11-13T06:52:42.578" v="463" actId="255"/>
        <pc:sldMkLst>
          <pc:docMk/>
          <pc:sldMk cId="2906152353" sldId="318"/>
        </pc:sldMkLst>
        <pc:spChg chg="mod">
          <ac:chgData name="Swathi Chittani" userId="f6387012ae5f990c" providerId="LiveId" clId="{F64BA8FB-421E-4DA2-A597-72A16AB83D95}" dt="2025-11-13T06:52:42.578" v="463" actId="255"/>
          <ac:spMkLst>
            <pc:docMk/>
            <pc:sldMk cId="2906152353" sldId="318"/>
            <ac:spMk id="2" creationId="{CFDEBC60-AA38-5DEF-3160-0CAA68F3D28C}"/>
          </ac:spMkLst>
        </pc:spChg>
        <pc:spChg chg="mod">
          <ac:chgData name="Swathi Chittani" userId="f6387012ae5f990c" providerId="LiveId" clId="{F64BA8FB-421E-4DA2-A597-72A16AB83D95}" dt="2025-11-13T06:52:33.095" v="462" actId="255"/>
          <ac:spMkLst>
            <pc:docMk/>
            <pc:sldMk cId="2906152353" sldId="318"/>
            <ac:spMk id="10" creationId="{C1809A1F-7F52-8BBA-F848-96A971E4A73A}"/>
          </ac:spMkLst>
        </pc:spChg>
        <pc:spChg chg="mod">
          <ac:chgData name="Swathi Chittani" userId="f6387012ae5f990c" providerId="LiveId" clId="{F64BA8FB-421E-4DA2-A597-72A16AB83D95}" dt="2025-11-13T06:51:19.175" v="453" actId="1076"/>
          <ac:spMkLst>
            <pc:docMk/>
            <pc:sldMk cId="2906152353" sldId="318"/>
            <ac:spMk id="11" creationId="{8EEE22EB-ACE4-161F-E602-66245CD5469B}"/>
          </ac:spMkLst>
        </pc:spChg>
        <pc:spChg chg="mod">
          <ac:chgData name="Swathi Chittani" userId="f6387012ae5f990c" providerId="LiveId" clId="{F64BA8FB-421E-4DA2-A597-72A16AB83D95}" dt="2025-11-13T06:52:03.549" v="460" actId="1076"/>
          <ac:spMkLst>
            <pc:docMk/>
            <pc:sldMk cId="2906152353" sldId="318"/>
            <ac:spMk id="15" creationId="{C5E0EDA2-818B-884C-B485-CD820FE7B742}"/>
          </ac:spMkLst>
        </pc:spChg>
      </pc:sldChg>
      <pc:sldChg chg="modSp mod">
        <pc:chgData name="Swathi Chittani" userId="f6387012ae5f990c" providerId="LiveId" clId="{F64BA8FB-421E-4DA2-A597-72A16AB83D95}" dt="2025-11-13T06:39:48.545" v="125" actId="20577"/>
        <pc:sldMkLst>
          <pc:docMk/>
          <pc:sldMk cId="3421680658" sldId="319"/>
        </pc:sldMkLst>
        <pc:spChg chg="mod">
          <ac:chgData name="Swathi Chittani" userId="f6387012ae5f990c" providerId="LiveId" clId="{F64BA8FB-421E-4DA2-A597-72A16AB83D95}" dt="2025-11-13T06:39:48.545" v="125" actId="20577"/>
          <ac:spMkLst>
            <pc:docMk/>
            <pc:sldMk cId="3421680658" sldId="319"/>
            <ac:spMk id="8" creationId="{DD542008-8017-76E5-ABC0-32401068875D}"/>
          </ac:spMkLst>
        </pc:spChg>
      </pc:sldChg>
      <pc:sldChg chg="modSp mod">
        <pc:chgData name="Swathi Chittani" userId="f6387012ae5f990c" providerId="LiveId" clId="{F64BA8FB-421E-4DA2-A597-72A16AB83D95}" dt="2025-11-13T06:53:29.937" v="466" actId="207"/>
        <pc:sldMkLst>
          <pc:docMk/>
          <pc:sldMk cId="3752118431" sldId="320"/>
        </pc:sldMkLst>
        <pc:spChg chg="mod">
          <ac:chgData name="Swathi Chittani" userId="f6387012ae5f990c" providerId="LiveId" clId="{F64BA8FB-421E-4DA2-A597-72A16AB83D95}" dt="2025-11-13T06:53:29.937" v="466" actId="207"/>
          <ac:spMkLst>
            <pc:docMk/>
            <pc:sldMk cId="3752118431" sldId="320"/>
            <ac:spMk id="3" creationId="{89D0E47E-D228-15EB-5886-33E9AA181D03}"/>
          </ac:spMkLst>
        </pc:spChg>
      </pc:sldChg>
      <pc:sldChg chg="modSp mod">
        <pc:chgData name="Swathi Chittani" userId="f6387012ae5f990c" providerId="LiveId" clId="{F64BA8FB-421E-4DA2-A597-72A16AB83D95}" dt="2025-11-13T06:53:14.176" v="464" actId="207"/>
        <pc:sldMkLst>
          <pc:docMk/>
          <pc:sldMk cId="1607455252" sldId="321"/>
        </pc:sldMkLst>
        <pc:spChg chg="mod">
          <ac:chgData name="Swathi Chittani" userId="f6387012ae5f990c" providerId="LiveId" clId="{F64BA8FB-421E-4DA2-A597-72A16AB83D95}" dt="2025-11-13T06:53:14.176" v="464" actId="207"/>
          <ac:spMkLst>
            <pc:docMk/>
            <pc:sldMk cId="1607455252" sldId="321"/>
            <ac:spMk id="2" creationId="{2CD97761-0B88-A5E8-0B78-C39173D05F4D}"/>
          </ac:spMkLst>
        </pc:spChg>
        <pc:spChg chg="mod">
          <ac:chgData name="Swathi Chittani" userId="f6387012ae5f990c" providerId="LiveId" clId="{F64BA8FB-421E-4DA2-A597-72A16AB83D95}" dt="2025-11-13T06:48:36.953" v="436" actId="2710"/>
          <ac:spMkLst>
            <pc:docMk/>
            <pc:sldMk cId="1607455252" sldId="321"/>
            <ac:spMk id="3" creationId="{02BA04E6-CD61-B962-4287-DEC1993C32D6}"/>
          </ac:spMkLst>
        </pc:spChg>
        <pc:picChg chg="mod">
          <ac:chgData name="Swathi Chittani" userId="f6387012ae5f990c" providerId="LiveId" clId="{F64BA8FB-421E-4DA2-A597-72A16AB83D95}" dt="2025-11-13T06:48:52.640" v="439" actId="1076"/>
          <ac:picMkLst>
            <pc:docMk/>
            <pc:sldMk cId="1607455252" sldId="321"/>
            <ac:picMk id="5" creationId="{94747886-F039-4AE3-C405-DA6F769DCB1D}"/>
          </ac:picMkLst>
        </pc:picChg>
        <pc:picChg chg="mod">
          <ac:chgData name="Swathi Chittani" userId="f6387012ae5f990c" providerId="LiveId" clId="{F64BA8FB-421E-4DA2-A597-72A16AB83D95}" dt="2025-11-13T06:48:46.585" v="438" actId="1076"/>
          <ac:picMkLst>
            <pc:docMk/>
            <pc:sldMk cId="1607455252" sldId="321"/>
            <ac:picMk id="10" creationId="{C1688C69-C8AE-CEE6-CC89-20ABEFB1A30A}"/>
          </ac:picMkLst>
        </pc:picChg>
      </pc:sldChg>
      <pc:sldChg chg="modSp mod">
        <pc:chgData name="Swathi Chittani" userId="f6387012ae5f990c" providerId="LiveId" clId="{F64BA8FB-421E-4DA2-A597-72A16AB83D95}" dt="2025-11-13T06:44:23.158" v="184" actId="1076"/>
        <pc:sldMkLst>
          <pc:docMk/>
          <pc:sldMk cId="3439832814" sldId="324"/>
        </pc:sldMkLst>
        <pc:spChg chg="mod">
          <ac:chgData name="Swathi Chittani" userId="f6387012ae5f990c" providerId="LiveId" clId="{F64BA8FB-421E-4DA2-A597-72A16AB83D95}" dt="2025-11-13T06:44:23.158" v="184" actId="1076"/>
          <ac:spMkLst>
            <pc:docMk/>
            <pc:sldMk cId="3439832814" sldId="324"/>
            <ac:spMk id="4" creationId="{FF0C252D-BED6-E783-25EC-F68722804521}"/>
          </ac:spMkLst>
        </pc:spChg>
      </pc:sldChg>
      <pc:sldChg chg="del">
        <pc:chgData name="Swathi Chittani" userId="f6387012ae5f990c" providerId="LiveId" clId="{F64BA8FB-421E-4DA2-A597-72A16AB83D95}" dt="2025-11-13T06:35:29.709" v="4" actId="2696"/>
        <pc:sldMkLst>
          <pc:docMk/>
          <pc:sldMk cId="1043321150" sldId="32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E6205E-B305-4B90-9534-3C5E99A0275E}" type="datetimeFigureOut">
              <a:rPr lang="en-US" smtClean="0"/>
              <a:t>11/13/2025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C623C-86E0-4A85-83FB-F4A716956F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722F1-E430-42A1-A473-1759336AECCE}" type="datetimeFigureOut">
              <a:rPr lang="en-US" smtClean="0"/>
              <a:t>11/13/2025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D7554-D10C-4E29-B8E6-BB7111FA6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D7554-D10C-4E29-B8E6-BB7111FA614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64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50DD4-66B6-DFB8-A423-5612D312A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6A115-E078-5583-B4D3-A2907429F0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48B78-25F8-81A5-D8C0-2B584053D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EFEA2-3EDD-C967-C30F-088EC39B63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D7554-D10C-4E29-B8E6-BB7111FA614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501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2000"/>
            </a:lvl1pPr>
            <a:lvl2pPr>
              <a:lnSpc>
                <a:spcPct val="100000"/>
              </a:lnSpc>
              <a:spcAft>
                <a:spcPts val="600"/>
              </a:spcAft>
              <a:defRPr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sz="20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portal.cwopa.gov/pacses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host:7081/api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45EC36-E8EE-65B2-A568-5204C91EA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1097" y="3588222"/>
            <a:ext cx="8204434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Name: 	                 Swathi Chittani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Role: 		   Senior Software Engineer (Front End)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Experience: 	   9.6 years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Domains: 	   Public Sector &amp; Healthcare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Specialization:     Full-stack ReactJS + ASP.NET + </a:t>
            </a:r>
            <a:r>
              <a:rPr lang="en-US" altLang="en-US" sz="2200" b="1" dirty="0" err="1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SqlServer</a:t>
            </a: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LinkedIn: 	   linkedin.com/in/swathi-chittani-11247557</a:t>
            </a:r>
          </a:p>
        </p:txBody>
      </p:sp>
      <p:pic>
        <p:nvPicPr>
          <p:cNvPr id="1027" name="Picture 3" descr="Picture336 1586304570 768x264">
            <a:extLst>
              <a:ext uri="{FF2B5EF4-FFF2-40B4-BE49-F238E27FC236}">
                <a16:creationId xmlns:a16="http://schemas.microsoft.com/office/drawing/2014/main" id="{5135B9C1-67A3-7DD4-0DEB-FFB053177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0052" y="401624"/>
            <a:ext cx="6688822" cy="2299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1401DBA-5437-5D6E-8989-1F70CEB63853}"/>
              </a:ext>
            </a:extLst>
          </p:cNvPr>
          <p:cNvSpPr txBox="1">
            <a:spLocks/>
          </p:cNvSpPr>
          <p:nvPr/>
        </p:nvSpPr>
        <p:spPr>
          <a:xfrm>
            <a:off x="1109639" y="1895410"/>
            <a:ext cx="2772468" cy="15335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Agenda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B725113-01D6-8A7A-1855-6A0D0D4DD0BB}"/>
              </a:ext>
            </a:extLst>
          </p:cNvPr>
          <p:cNvSpPr txBox="1">
            <a:spLocks/>
          </p:cNvSpPr>
          <p:nvPr/>
        </p:nvSpPr>
        <p:spPr>
          <a:xfrm>
            <a:off x="4379052" y="1305833"/>
            <a:ext cx="6384023" cy="448257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  <a:p>
            <a:pPr algn="l"/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 Portfolio</a:t>
            </a:r>
          </a:p>
          <a:p>
            <a:pPr algn="l"/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 Project Overview – PACSES</a:t>
            </a:r>
          </a:p>
          <a:p>
            <a:pPr algn="l"/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 Architecture</a:t>
            </a:r>
          </a:p>
          <a:p>
            <a:pPr algn="l"/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Contributions</a:t>
            </a:r>
          </a:p>
          <a:p>
            <a:pPr algn="l"/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Problem-Solving &amp; Performance Optimization</a:t>
            </a:r>
          </a:p>
          <a:p>
            <a:pPr algn="l"/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Snippets &amp; Best Practices</a:t>
            </a:r>
          </a:p>
          <a:p>
            <a:pPr algn="l"/>
            <a:endParaRPr lang="en-US" sz="21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334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97761-0B88-A5E8-0B78-C39173D0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6738" y="418115"/>
            <a:ext cx="4443597" cy="663232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Client Portfolio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A04E6-CD61-B962-4287-DEC1993C32D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266738" y="749731"/>
            <a:ext cx="9547442" cy="528933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Commonwealth of Pennsylvania (CWOPA – PACSES Modernization Project, USA)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Role: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 Software Engineer (ReactJS, ASP.NET Core, Oracle SQL)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Spearheaded the modernization of 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PACSES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(Public Assistance Child Support Enforcement System), transforming a legacy mainframe system into a modern web-based architecture to issue benefits to the Pennsylvania citizens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National Health Service (NHS – United Kingdom)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Role: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Senior Software Engineer (Frontend Development)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Contributed to the development of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applications for patient management and healthcare analytics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under the NHS Digital transformation initiative for maintaining UK citizen Patient Records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601E-33F5-5714-867D-A0B584DA7C1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688C69-C8AE-CEE6-CC89-20ABEFB1A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738" y="3848778"/>
            <a:ext cx="411757" cy="1671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747886-F039-4AE3-C405-DA6F769DC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710" y="1259722"/>
            <a:ext cx="406785" cy="30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455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6F71E8-8D71-9405-3A01-01C3B8F8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040" y="347098"/>
            <a:ext cx="9150675" cy="1427585"/>
          </a:xfrm>
        </p:spPr>
        <p:txBody>
          <a:bodyPr anchor="ctr">
            <a:normAutofit/>
          </a:bodyPr>
          <a:lstStyle/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</a:rPr>
              <a:t>Current Project Overview</a:t>
            </a:r>
            <a:endParaRPr lang="en-ZA" sz="3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2C90C5-5198-C255-02F9-1608AA49E08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209040" y="1510939"/>
            <a:ext cx="9242552" cy="4600612"/>
          </a:xfrm>
        </p:spPr>
        <p:txBody>
          <a:bodyPr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Architected and Developed a Modern Web Platform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Transformed a legacy mainframe system into a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modular, service-oriented web architecture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ReactJS, ASP.NET Core Web API, and Oracle 19c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Implemented Secure Token-Based Authentication and Authorization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Configured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OAuth 2.0 Authorization Code Flow with PKCE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end-to-end secure authentication.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Optimized Performance, Scalability, and Deployment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Enhanced backend performance by replacing cursor-based PL/SQL loops with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BULK COLLECT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MERGE-based SQL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operations, reducing processing time by 40%.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4518A5-1C9D-79F3-349C-3E7AAFD9895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8D65601-5AE2-46FC-B138-694DDD2B510D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82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D0E47E-D228-15EB-5886-33E9AA181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5045" y="159392"/>
            <a:ext cx="5000318" cy="72984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</a:rPr>
              <a:t>ARCHITECTURE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9B024F-59AB-D201-258B-D468036D9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918" y="993797"/>
            <a:ext cx="6950519" cy="545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18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C15354-374E-4710-792F-592E588B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5680" y="262488"/>
            <a:ext cx="10231119" cy="1454552"/>
          </a:xfrm>
        </p:spPr>
        <p:txBody>
          <a:bodyPr>
            <a:normAutofit/>
          </a:bodyPr>
          <a:lstStyle/>
          <a:p>
            <a:r>
              <a:rPr lang="en-US" sz="3200" dirty="0"/>
              <a:t>🧩 </a:t>
            </a:r>
            <a:r>
              <a:rPr lang="en-US" sz="3200" b="1" dirty="0"/>
              <a:t>PACSES – Benefit Issuance Modernization System Architecture Explanation</a:t>
            </a:r>
            <a:endParaRPr lang="en-ZA" sz="3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D951B-D6C0-AB0A-0FFD-23670BE643E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158240" y="1625600"/>
            <a:ext cx="10708640" cy="46025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User Access &amp; Frontend Deployment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 application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hosted on an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S3 bucket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served through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CloudFront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global accessibility, caching, and HTTPS support.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users (state employees, caseworkers, or administrators) access the system via a browser, they are routed to the React application (e.g.,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https://portal.cwopa.gov/pacses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0" indent="0">
              <a:buNone/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Authentication via Identity Server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the user tries to log in, the React app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redirects the user (Redirect URI)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 (running on port 5000)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responsible for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OAuth 2.0 + PKCE authentication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which securely handles login, MFA, and authorization.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Identity Server communicates with its </a:t>
            </a: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own database (Identity Server DB)</a:t>
            </a: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validate user credentials, roles, and policies.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56543-DA8C-CEE2-0E13-19DE61C134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010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D542008-8017-76E5-ABC0-3240106887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19200" y="306797"/>
            <a:ext cx="10972800" cy="6244406"/>
          </a:xfrm>
        </p:spPr>
        <p:txBody>
          <a:bodyPr>
            <a:normAutofit fontScale="92500" lnSpcReduction="20000"/>
          </a:bodyPr>
          <a:lstStyle/>
          <a:p>
            <a:r>
              <a:rPr lang="en-US" sz="19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Token Response Back to React</a:t>
            </a:r>
          </a:p>
          <a:p>
            <a:endParaRPr lang="en-US" sz="19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After successful login, the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 issues tokens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Token: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used for authorization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Refresh Token: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re-authentication without re-login</a:t>
            </a:r>
          </a:p>
          <a:p>
            <a:pPr marL="457200" lvl="1" indent="0">
              <a:buNone/>
            </a:pPr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These tokens are securely returned to the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 application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the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Redirect URI callback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https://localhost:3000/auth/callback).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The React app receives the tokens and makes API Calls.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 Data Requests to ASP.NET Core Web API</a:t>
            </a:r>
          </a:p>
          <a:p>
            <a:endParaRPr lang="en-US" sz="19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React app now includes the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Bearer Token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each HTTP request header and makes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API calls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backend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(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https://localhost:7081/</a:t>
            </a:r>
            <a:r>
              <a:rPr lang="en-US" sz="19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api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/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...).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APIs are part of the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ASP.NET Core Web API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application, which is secured with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JWT Bearer Authentication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API validates the token using the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Identity Server’s public key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before processing the request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 Backend Integration with Oracle Database</a:t>
            </a:r>
          </a:p>
          <a:p>
            <a:endParaRPr lang="en-US" sz="19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 authentication succeeds, the Web API performs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logic and data operations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by connecting to the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Oracle Server DB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API retrieves or updates data using optimized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PL/SQL procedures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 operations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BULK COLLECT</a:t>
            </a: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for high-performance data processing.</a:t>
            </a:r>
          </a:p>
          <a:p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9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database contains all benefit issuance, accounting, and case-related data for PACSES.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680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59FD0C-3CC0-6307-C5F3-CCBE0B14A19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056640" y="152400"/>
            <a:ext cx="7030720" cy="6563360"/>
          </a:xfrm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A553E">
                    <a:lumMod val="75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Response Back to Frontend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Web API returns results to the React frontend in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JSON format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React UI dynamically renders the data into interactive dashboards, forms, and reports.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Example: When the user checks “Benefit Issuance History,” the API returns          the relevant client data in JSON, and the React UI displays it in a table or chart.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A553E">
                    <a:lumMod val="75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 CI/CD &amp; Deployment Pipeline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is developed locally, pushed to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triggers a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CI/CD pipeline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pipeline:</a:t>
            </a:r>
          </a:p>
          <a:p>
            <a:pPr marR="0" lvl="1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Builds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ASP.NET Core Web API Docker image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R="0" lvl="1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Pushes the image to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Elastic Container Registry (ECR)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R="0" lvl="1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Deploys the containerized API to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ECS with Fargate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(serverless container hosting).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ensures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automated, scalable, and version-controlled deployments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React app (frontend) is also built and deployed to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S3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a similar GitHub Actions pipeline.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592F51-55CE-19DC-B632-AD19560BA9D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AAB460-BA27-EACF-5C1D-1E3724986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360" y="3429000"/>
            <a:ext cx="4036024" cy="190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546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8923" y="262487"/>
            <a:ext cx="9150675" cy="460882"/>
          </a:xfrm>
        </p:spPr>
        <p:txBody>
          <a:bodyPr>
            <a:no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Key Technologies Used</a:t>
            </a:r>
            <a:endParaRPr lang="en-ZA" sz="2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EE22EB-ACE4-161F-E602-66245CD5469B}"/>
              </a:ext>
            </a:extLst>
          </p:cNvPr>
          <p:cNvSpPr txBox="1"/>
          <p:nvPr/>
        </p:nvSpPr>
        <p:spPr>
          <a:xfrm>
            <a:off x="1220639" y="598868"/>
            <a:ext cx="8522473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ReactJS, Redux, Material UI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Backend: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ASP.NET Core 6, C#, REST APIs, Swagger,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Serilog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Oracle 12c (with PL/SQL optimization)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Authentication: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Identity Server 4, OAuth 2.0 with PKCE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&amp; DevOps: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AWS S3, ECS, ECR, Fargate, GitHub Actions, Docker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1809A1F-7F52-8BBA-F848-96A971E4A73A}"/>
              </a:ext>
            </a:extLst>
          </p:cNvPr>
          <p:cNvSpPr txBox="1">
            <a:spLocks/>
          </p:cNvSpPr>
          <p:nvPr/>
        </p:nvSpPr>
        <p:spPr>
          <a:xfrm>
            <a:off x="1163315" y="2725732"/>
            <a:ext cx="9150675" cy="460882"/>
          </a:xfrm>
          <a:prstGeom prst="rect">
            <a:avLst/>
          </a:prstGeom>
        </p:spPr>
        <p:txBody>
          <a:bodyPr vert="horz" lIns="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📊</a:t>
            </a:r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Best Practices</a:t>
            </a:r>
            <a:endParaRPr lang="en-ZA" sz="2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E0EDA2-818B-884C-B485-CD820FE7B742}"/>
              </a:ext>
            </a:extLst>
          </p:cNvPr>
          <p:cNvSpPr txBox="1"/>
          <p:nvPr/>
        </p:nvSpPr>
        <p:spPr>
          <a:xfrm>
            <a:off x="1163315" y="3069142"/>
            <a:ext cx="10262964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Authorization Code + PKCE for SPA auth (no implicit flow)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Suggested SonarQube integration in CI to detect and fix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smells, unused imports, and inefficiencies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Centralized telemetry (Sentry / Application Insights) for errors &amp; traces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Pendo Analytics integration to track React pages/components that users visit the most.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Enforce linting, unit tests, and coverage in CI before merge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Harden headers: CSP, HSTS, X-Content-Type-Options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of in-house  UI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storykit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build and use the React components across all the projects to maintain uniformity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6152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ADCDB-B7BF-AC56-36AF-A3C96D63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F34B-0D0E-D89F-90FA-113D4A4A309E}"/>
              </a:ext>
            </a:extLst>
          </p:cNvPr>
          <p:cNvSpPr txBox="1">
            <a:spLocks/>
          </p:cNvSpPr>
          <p:nvPr/>
        </p:nvSpPr>
        <p:spPr>
          <a:xfrm>
            <a:off x="1050764" y="220026"/>
            <a:ext cx="9150675" cy="460882"/>
          </a:xfrm>
          <a:prstGeom prst="rect">
            <a:avLst/>
          </a:prstGeom>
        </p:spPr>
        <p:txBody>
          <a:bodyPr vert="horz" lIns="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ZA" sz="3200" b="1" dirty="0">
                <a:solidFill>
                  <a:schemeClr val="accent6">
                    <a:lumMod val="75000"/>
                  </a:schemeClr>
                </a:solidFill>
              </a:rPr>
              <a:t>Performance Optimization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F0C252D-BED6-E783-25EC-F68722804521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1184988" y="816083"/>
            <a:ext cx="10515600" cy="57656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 Optimizations:</a:t>
            </a: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code-splitting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lazy loading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React.lazy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Suspense.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imports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load modules on demand.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React.memo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useMemo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useCallback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prevent unnecessary re-renders.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Preferred async/await +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Promise.all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parallel, resilient calls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Light house audits to track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Largest </a:t>
            </a:r>
            <a:r>
              <a:rPr 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Contentful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Paint,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 to Interactive, Cumulative Layout Shift</a:t>
            </a:r>
          </a:p>
          <a:p>
            <a:pPr lvl="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DB Optimizations: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Query Optimizations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 custom column-level flags to indicate pre-validated records.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significantly reduced repeated validation queries and eliminated unnecessary database round-trips.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Replaced row-by-row operations with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(for batch INSERT/UPDATE) and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BULK COLLECT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(for high-volume data retrieval), improving throughput and reducing execution time dramatically.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 Strategic Indexing &amp; Removed Unused Indexes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Fine-Tuned SQL Execution Plans</a:t>
            </a:r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</a:pPr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832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0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01732C-7338-DBA0-BD19-1FA883047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4254" y="2306971"/>
            <a:ext cx="5343244" cy="1308683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043708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44816_Win32_SL_V10" id="{8934A6D9-B969-498F-A646-4B502FD69C4E}" vid="{AA78C1C8-456D-41A9-83FC-BC8B9A8EE3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{F153C4E5-B61C-4B6C-8816-859A53EFEA43}TF3977e381-cba5-49b1-ba43-b5d865517af907ebbda9_win32-372d4d6ae720</Template>
  <TotalTime>620</TotalTime>
  <Words>1128</Words>
  <Application>Microsoft Office PowerPoint</Application>
  <PresentationFormat>Widescreen</PresentationFormat>
  <Paragraphs>137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Tisa Offc Serif Pro</vt:lpstr>
      <vt:lpstr>Univers Light</vt:lpstr>
      <vt:lpstr>Wingdings</vt:lpstr>
      <vt:lpstr>Custom</vt:lpstr>
      <vt:lpstr>PowerPoint Presentation</vt:lpstr>
      <vt:lpstr>PowerPoint Presentation</vt:lpstr>
      <vt:lpstr>Client Portfolio</vt:lpstr>
      <vt:lpstr>Current Project Overview</vt:lpstr>
      <vt:lpstr>ARCHITECTURE </vt:lpstr>
      <vt:lpstr>🧩 PACSES – Benefit Issuance Modernization System Architecture Explanation</vt:lpstr>
      <vt:lpstr>PowerPoint Presentation</vt:lpstr>
      <vt:lpstr>PowerPoint Presentation</vt:lpstr>
      <vt:lpstr>Key Technologies Used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Swathi Chittani</dc:creator>
  <cp:lastModifiedBy>Swathi Chittani</cp:lastModifiedBy>
  <cp:revision>17</cp:revision>
  <dcterms:created xsi:type="dcterms:W3CDTF">2025-11-10T23:48:46Z</dcterms:created>
  <dcterms:modified xsi:type="dcterms:W3CDTF">2025-11-13T06:53:31Z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2025-11-11T21:52:31Z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1b5e7093-8efc-4f48-aa57-653b28f57a46</vt:lpwstr>
  </property>
  <property fmtid="{D5CDD505-2E9C-101B-9397-08002B2CF9AE}" pid="8" name="MSIP_Label_defa4170-0d19-0005-0004-bc88714345d2_ActionId">
    <vt:lpwstr>ff6a9668-bf30-4d4b-a711-cd6b5c8c2664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</Properties>
</file>