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17" r:id="rId6"/>
    <p:sldId id="321" r:id="rId7"/>
    <p:sldId id="316" r:id="rId8"/>
    <p:sldId id="320" r:id="rId9"/>
    <p:sldId id="315" r:id="rId10"/>
    <p:sldId id="319" r:id="rId11"/>
    <p:sldId id="313" r:id="rId12"/>
    <p:sldId id="318" r:id="rId13"/>
    <p:sldId id="325" r:id="rId14"/>
    <p:sldId id="314" r:id="rId15"/>
    <p:sldId id="324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057"/>
    <a:srgbClr val="324E54"/>
    <a:srgbClr val="456A73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6B828-76BF-43EA-8236-0EAC7847D383}" v="96" dt="2025-11-11T07:01:43.949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676" autoAdjust="0"/>
  </p:normalViewPr>
  <p:slideViewPr>
    <p:cSldViewPr snapToGrid="0">
      <p:cViewPr>
        <p:scale>
          <a:sx n="88" d="100"/>
          <a:sy n="88" d="100"/>
        </p:scale>
        <p:origin x="451" y="77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4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0DD4-66B6-DFB8-A423-5612D312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6A115-E078-5583-B4D3-A2907429F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48B78-25F8-81A5-D8C0-2B584053D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EFEA2-3EDD-C967-C30F-088EC39B6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0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cwopa.gov/pacses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7081/api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4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45EC36-E8EE-65B2-A568-5204C91EA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097" y="3588222"/>
            <a:ext cx="820443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	                 Swathi Chittani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 		   Senior Software Engineer (Front 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	   9.6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Domains: 	   Public Sector &amp; Healthcare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Specialization:     Full-stack ReactJS + ASP.NET + </a:t>
            </a:r>
            <a:r>
              <a:rPr lang="en-US" altLang="en-US" sz="2200" b="1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SqlServer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 	   linkedin.com/in/swathi-chittani-11247557</a:t>
            </a:r>
          </a:p>
        </p:txBody>
      </p:sp>
      <p:pic>
        <p:nvPicPr>
          <p:cNvPr id="1027" name="Picture 3" descr="Picture336 1586304570 768x264">
            <a:extLst>
              <a:ext uri="{FF2B5EF4-FFF2-40B4-BE49-F238E27FC236}">
                <a16:creationId xmlns:a16="http://schemas.microsoft.com/office/drawing/2014/main" id="{5135B9C1-67A3-7DD4-0DEB-FFB053177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052" y="401624"/>
            <a:ext cx="6688822" cy="22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401DBA-5437-5D6E-8989-1F70CEB63853}"/>
              </a:ext>
            </a:extLst>
          </p:cNvPr>
          <p:cNvSpPr txBox="1">
            <a:spLocks/>
          </p:cNvSpPr>
          <p:nvPr/>
        </p:nvSpPr>
        <p:spPr>
          <a:xfrm>
            <a:off x="1109639" y="1895410"/>
            <a:ext cx="2772468" cy="15335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725113-01D6-8A7A-1855-6A0D0D4DD0BB}"/>
              </a:ext>
            </a:extLst>
          </p:cNvPr>
          <p:cNvSpPr txBox="1">
            <a:spLocks/>
          </p:cNvSpPr>
          <p:nvPr/>
        </p:nvSpPr>
        <p:spPr>
          <a:xfrm>
            <a:off x="4379052" y="1305833"/>
            <a:ext cx="6384023" cy="44825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Portfolio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 Overview – PACSES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Architecture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Contributions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Problem-Solving &amp; Performance Optimization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Snippets &amp; Best Practices</a:t>
            </a:r>
          </a:p>
          <a:p>
            <a:pPr algn="l"/>
            <a:endParaRPr lang="en-US" sz="2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79" y="262487"/>
            <a:ext cx="3099639" cy="66323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66738" y="862149"/>
            <a:ext cx="9009373" cy="5289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Commonwealth of Pennsylvania (CWOPA – PACSES Modernization Project, USA)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 Senior Software Engineer (ReactJS, ASP.NET Core, Oracle SQL)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Spearheaded the modernization of the PACSES (Public Assistance Child Support Enforcement System), transforming a legacy mainframe system into a modern web-based architecture to issue benefits to the Pennsylvania citizens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National Health Service (NHS – United Kingdom)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Senior Software Engineer (Frontend Development)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Contributed to the development of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applications for patient management and healthcare analytics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 the NHS Digital transformation initiative for maintaining UK citizen Patient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88C69-C8AE-CEE6-CC89-20ABEFB1A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19" y="3959925"/>
            <a:ext cx="411757" cy="167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47886-F039-4AE3-C405-DA6F769DC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25" y="1466511"/>
            <a:ext cx="406785" cy="30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040" y="347098"/>
            <a:ext cx="9150675" cy="1427585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Current Project Overview</a:t>
            </a:r>
            <a:endParaRPr lang="en-ZA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09040" y="1706880"/>
            <a:ext cx="10027920" cy="452130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Developed a Modern Web Platform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Transformed a legacy mainframe system into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modular, service-oriented web architecture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ReactJS, ASP.NET Core Web API, and Oracle 19c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Secure Token-Based Authentication and Authorization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OAuth 2.0 Authorization Code Flow with PKCE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 Server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end-to-end secure authentication.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Performance, Scalability, and Deployment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backend performance by replacing cursor-based PL/SQL loops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 COLLECT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MERGE-based SQL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operations, reducing processing time by 40%.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045" y="159392"/>
            <a:ext cx="5000318" cy="729842"/>
          </a:xfrm>
        </p:spPr>
        <p:txBody>
          <a:bodyPr>
            <a:normAutofit/>
          </a:bodyPr>
          <a:lstStyle/>
          <a:p>
            <a:r>
              <a:rPr lang="en-US" sz="3200" b="1" dirty="0"/>
              <a:t>ARCHITECTURE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B024F-59AB-D201-258B-D468036D9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918" y="993797"/>
            <a:ext cx="6950519" cy="54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262488"/>
            <a:ext cx="10231119" cy="1454552"/>
          </a:xfrm>
        </p:spPr>
        <p:txBody>
          <a:bodyPr>
            <a:normAutofit/>
          </a:bodyPr>
          <a:lstStyle/>
          <a:p>
            <a:r>
              <a:rPr lang="en-US" sz="3200" dirty="0"/>
              <a:t>🧩 </a:t>
            </a:r>
            <a:r>
              <a:rPr lang="en-US" sz="3200" b="1" dirty="0"/>
              <a:t>PACSES – Benefit Issuance Modernization System Architecture Explanation</a:t>
            </a:r>
            <a:endParaRPr lang="en-ZA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D951B-D6C0-AB0A-0FFD-23670BE643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8240" y="1625600"/>
            <a:ext cx="10708640" cy="4602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User Access &amp; Frontend Deployment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application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hosted on an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S3 bucket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served through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CloudFront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global accessibility, caching, and HTTPS support.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users (state employees, caseworkers, or administrators) access the system via a browser, they are routed to the React application (e.g.,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https://portal.cwopa.gov/pacses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Authentication via Identity Server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user tries to log in, the React app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redirects the user (Redirect URI)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 Server (running on port 5000)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 Server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responsible for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OAuth 2.0 + PKCE authentication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securely handles login, MFA, and authorization.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Identity Server communicates with its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 database (Identity Server DB)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validate user credentials, roles, and policies.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9200" y="306797"/>
            <a:ext cx="10972800" cy="6244406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Token Response Back to React</a:t>
            </a:r>
          </a:p>
          <a:p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successful login,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 Server issues tokens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Token: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for authorization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Token: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re-authentication without re-login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tokens are securely returned to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application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Redirect URI callback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https://localhost:3000/auth/callback).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React app stores the tokens.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Data Requests to ASP.NET Core Web API</a:t>
            </a:r>
          </a:p>
          <a:p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React app now includes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Bearer Token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each HTTP request header and makes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calls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backend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https://localhost:7081/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api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APIs are part of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 Core Web 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application, which is secured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Bearer Authentication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API validates the token using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 Server’s public key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before processing the request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Backend Integration with Oracle Database</a:t>
            </a:r>
          </a:p>
          <a:p>
            <a:endParaRPr lang="en-US" sz="1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authentication succeeds, the Web API performs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logic and data operations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connecting to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Server DB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API retrieves or updates data using optimized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PL/SQL procedures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operations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 COLLECT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for high-performance data processing.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database contains all benefit issuance, accounting, and case-related data for PACSES.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6640" y="152400"/>
            <a:ext cx="7030720" cy="656336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A553E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Response Back to Frontend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Web API returns results to the React frontend in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 format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React UI dynamically renders the data into interactive dashboards, forms, and reports.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When the user checks “Benefit Issuance History,” the API returns          the relevant client data in JSON, and the React UI displays it in a table or chart.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A553E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CI/CD &amp; Deployment Pipeline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is developed locally, pushed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triggers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CI/CD pipeline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pipeline: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 Core Web API Docker 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Pushes the image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Elastic Container Registry (ECR)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Deploys the containerized API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ECS with Fargate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(serverless container hosting).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ensures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automated, scalable, and version-controlled deployments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React app (frontend) is also built and deployed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 similar GitHub Actions pipeline.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AAB460-BA27-EACF-5C1D-1E372498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360" y="3429000"/>
            <a:ext cx="4036024" cy="190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5" y="185072"/>
            <a:ext cx="9150675" cy="46088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Key Technologies Used</a:t>
            </a:r>
            <a:endParaRPr lang="en-ZA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E22EB-ACE4-161F-E602-66245CD5469B}"/>
              </a:ext>
            </a:extLst>
          </p:cNvPr>
          <p:cNvSpPr txBox="1"/>
          <p:nvPr/>
        </p:nvSpPr>
        <p:spPr>
          <a:xfrm>
            <a:off x="1057755" y="645954"/>
            <a:ext cx="852247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ReactJS, Redux, Material UI</a:t>
            </a:r>
          </a:p>
          <a:p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ASP.NET Core 6, C#, REST APIs, Swagger, </a:t>
            </a:r>
            <a:r>
              <a:rPr lang="en-US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Serilog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Oracle 12c (with PL/SQL optimization)</a:t>
            </a:r>
          </a:p>
          <a:p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Authentication: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Identity Server 4, OAuth 2.0 with PKCE</a:t>
            </a:r>
          </a:p>
          <a:p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&amp; DevOps: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S3, ECS, ECR, Fargate, GitHub Actions, Docker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809A1F-7F52-8BBA-F848-96A971E4A73A}"/>
              </a:ext>
            </a:extLst>
          </p:cNvPr>
          <p:cNvSpPr txBox="1">
            <a:spLocks/>
          </p:cNvSpPr>
          <p:nvPr/>
        </p:nvSpPr>
        <p:spPr>
          <a:xfrm>
            <a:off x="1134654" y="2497054"/>
            <a:ext cx="9150675" cy="46088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Best Practices</a:t>
            </a:r>
            <a:endParaRPr lang="en-ZA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E0EDA2-818B-884C-B485-CD820FE7B742}"/>
              </a:ext>
            </a:extLst>
          </p:cNvPr>
          <p:cNvSpPr txBox="1"/>
          <p:nvPr/>
        </p:nvSpPr>
        <p:spPr>
          <a:xfrm>
            <a:off x="1134654" y="2957936"/>
            <a:ext cx="857979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Authorization Code + PKCE for SPA auth (no implicit flow)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Suggested SonarQube integration in CI for security &amp; quality gates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detect and fix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smells, unused imports, and inefficiencies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telemetry (Sentry / Application Insights) for errors &amp; traces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Pendo Analytics integration to track React pages/components that users visit the most.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Enforce linting, unit tests, and coverage in CI before merge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Harden headers: CSP, HSTS, X-Content-Type-Options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CDDC-D73E-4700-52DA-B2F00D21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2F0F2E-5966-5B2C-7D7A-DA218DABF2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DAFE8-08EC-8D54-96D0-E42816E4E56B}"/>
              </a:ext>
            </a:extLst>
          </p:cNvPr>
          <p:cNvSpPr txBox="1"/>
          <p:nvPr/>
        </p:nvSpPr>
        <p:spPr>
          <a:xfrm>
            <a:off x="1238506" y="522827"/>
            <a:ext cx="540557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(function(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apiKey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(function(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p,e,n,d,o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var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v,w,x,y,z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o=p[d]=p[d]||{};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o._q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=[];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v=['initialize','identify','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updateOptions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','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pageLoad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','track'];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for(w=0,x=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v.length;w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&lt;x;++w)(function(m){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o[m]=o[m]||function(){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o._q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[m===v[0]?'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unshift':'push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']([m].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([].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slice.call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(arguments,0)));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};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})(v[w]);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y=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e.createElement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y.async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=!0;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y.src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='https://cdn.pendo.io/agent/static/'+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apiKey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+'/pendo.js';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z=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e.getElementsByTagName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(n)[0];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z.parentNode.insertBefore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y,z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})(window,document,'script','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})('YOUR_PENDO_API_KEY');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&lt;/script&gt;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EC2E5E-4B82-2A5B-BF0D-FE77268ABF16}"/>
              </a:ext>
            </a:extLst>
          </p:cNvPr>
          <p:cNvSpPr txBox="1">
            <a:spLocks/>
          </p:cNvSpPr>
          <p:nvPr/>
        </p:nvSpPr>
        <p:spPr>
          <a:xfrm>
            <a:off x="1159821" y="103089"/>
            <a:ext cx="9150675" cy="46088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Code Snippets: Pendo Analytics</a:t>
            </a:r>
            <a:endParaRPr lang="en-ZA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32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87F33-C161-F85D-DA2F-AEECC824C2F0}"/>
              </a:ext>
            </a:extLst>
          </p:cNvPr>
          <p:cNvSpPr txBox="1"/>
          <p:nvPr/>
        </p:nvSpPr>
        <p:spPr>
          <a:xfrm>
            <a:off x="1250490" y="612844"/>
            <a:ext cx="91562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app.Use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(async (context, next) =&gt;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var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string.Join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 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"default-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"script-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"style-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 'unsafe-inline';",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img-src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 data:;",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"font-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"connect-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'self';",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"frame-ancestors 'none';"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);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context.Response.Headers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["Content-Security-Policy"]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context.Response.Headers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["X-Content-Type-Options"] =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nosniff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context.Response.Headers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["X-Frame-Options"] = "DENY";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context.Response.Headers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["Referrer-Policy"] = "strict-origin-when-cross-origin";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await next();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6ED58-4BDA-376A-1ADB-576B86956914}"/>
              </a:ext>
            </a:extLst>
          </p:cNvPr>
          <p:cNvSpPr txBox="1">
            <a:spLocks/>
          </p:cNvSpPr>
          <p:nvPr/>
        </p:nvSpPr>
        <p:spPr>
          <a:xfrm>
            <a:off x="1159821" y="103089"/>
            <a:ext cx="9150675" cy="46088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Code Snippets: Harden Headers</a:t>
            </a:r>
            <a:endParaRPr lang="en-ZA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DCDB-B7BF-AC56-36AF-A3C96D63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F34B-0D0E-D89F-90FA-113D4A4A309E}"/>
              </a:ext>
            </a:extLst>
          </p:cNvPr>
          <p:cNvSpPr txBox="1">
            <a:spLocks/>
          </p:cNvSpPr>
          <p:nvPr/>
        </p:nvSpPr>
        <p:spPr>
          <a:xfrm>
            <a:off x="1050764" y="220026"/>
            <a:ext cx="9150675" cy="46088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3200" b="1" dirty="0">
                <a:solidFill>
                  <a:schemeClr val="accent6">
                    <a:lumMod val="75000"/>
                  </a:schemeClr>
                </a:solidFill>
              </a:rPr>
              <a:t>Performance Optimization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0C252D-BED6-E783-25EC-F6872280452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089952" y="680908"/>
            <a:ext cx="100120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Optimizations: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code-splitting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lazy loading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React.lazy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Suspense.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imports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load modules on demand.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React.memo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useMemo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useCallback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prevent unnecessary re-renders.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Preferred async/await + </a:t>
            </a:r>
            <a:r>
              <a:rPr lang="en-US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Promise.all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parallel, resilient calls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Light house audits to track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Largest </a:t>
            </a:r>
            <a:r>
              <a:rPr lang="en-US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Contentful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Paint, 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to Interactive, Cumulative Layout Shift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Optimizations: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Optimizations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custom column-level flags to indicate pre-validated records.</a:t>
            </a:r>
            <a:b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significantly reduced repeated validation queries and eliminated unnecessary database round-trips.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row-by-row operations with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(for batch INSERT/UPDATE) and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 COLLECT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(for high-volume data retrieval), improving throughput and reducing execution time dramatically.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Strategic Indexing &amp; Removed Unused Indexes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 SQL Execution Plans</a:t>
            </a:r>
            <a:endParaRPr lang="en-US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832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254" y="2306971"/>
            <a:ext cx="5343244" cy="13086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{F153C4E5-B61C-4B6C-8816-859A53EFEA43}TF3977e381-cba5-49b1-ba43-b5d865517af907ebbda9_win32-372d4d6ae720</Template>
  <TotalTime>601</TotalTime>
  <Words>1453</Words>
  <Application>Microsoft Office PowerPoint</Application>
  <PresentationFormat>Widescreen</PresentationFormat>
  <Paragraphs>175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Tisa Offc Serif Pro</vt:lpstr>
      <vt:lpstr>Univers Light</vt:lpstr>
      <vt:lpstr>Wingdings</vt:lpstr>
      <vt:lpstr>Custom</vt:lpstr>
      <vt:lpstr>PowerPoint Presentation</vt:lpstr>
      <vt:lpstr>PowerPoint Presentation</vt:lpstr>
      <vt:lpstr>Client Portfolio</vt:lpstr>
      <vt:lpstr>Current Project Overview</vt:lpstr>
      <vt:lpstr>ARCHITECTURE </vt:lpstr>
      <vt:lpstr>🧩 PACSES – Benefit Issuance Modernization System Architecture Explanation</vt:lpstr>
      <vt:lpstr>PowerPoint Presentation</vt:lpstr>
      <vt:lpstr>PowerPoint Presentation</vt:lpstr>
      <vt:lpstr>Key Technologies Used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Chittani</dc:creator>
  <cp:lastModifiedBy>Swathi Chittani</cp:lastModifiedBy>
  <cp:revision>17</cp:revision>
  <dcterms:created xsi:type="dcterms:W3CDTF">2025-11-10T23:48:46Z</dcterms:created>
  <dcterms:modified xsi:type="dcterms:W3CDTF">2025-11-13T06:27:03Z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2025-11-11T21:52:31Z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1b5e7093-8efc-4f48-aa57-653b28f57a46</vt:lpwstr>
  </property>
  <property fmtid="{D5CDD505-2E9C-101B-9397-08002B2CF9AE}" pid="8" name="MSIP_Label_defa4170-0d19-0005-0004-bc88714345d2_ActionId">
    <vt:lpwstr>ff6a9668-bf30-4d4b-a711-cd6b5c8c2664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