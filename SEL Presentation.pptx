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322" r:id="rId5"/>
    <p:sldId id="317" r:id="rId6"/>
    <p:sldId id="321" r:id="rId7"/>
    <p:sldId id="316" r:id="rId8"/>
    <p:sldId id="320" r:id="rId9"/>
    <p:sldId id="315" r:id="rId10"/>
    <p:sldId id="319" r:id="rId11"/>
    <p:sldId id="313" r:id="rId12"/>
    <p:sldId id="318" r:id="rId13"/>
    <p:sldId id="314" r:id="rId14"/>
    <p:sldId id="324" r:id="rId15"/>
    <p:sldId id="325" r:id="rId16"/>
    <p:sldId id="31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8BF"/>
    <a:srgbClr val="586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06B828-76BF-43EA-8236-0EAC7847D383}" v="96" dt="2025-11-11T07:01:43.949"/>
  </p1510:revLst>
</p1510:revInfo>
</file>

<file path=ppt/tableStyles.xml><?xml version="1.0" encoding="utf-8"?>
<a:tblStyleLst xmlns:a="http://schemas.openxmlformats.org/drawingml/2006/main" def="{0E3FDE45-AF77-4B5C-9715-49D594BDF05E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1676" autoAdjust="0"/>
  </p:normalViewPr>
  <p:slideViewPr>
    <p:cSldViewPr snapToGrid="0">
      <p:cViewPr>
        <p:scale>
          <a:sx n="91" d="100"/>
          <a:sy n="91" d="100"/>
        </p:scale>
        <p:origin x="322" y="53"/>
      </p:cViewPr>
      <p:guideLst/>
    </p:cSldViewPr>
  </p:slideViewPr>
  <p:outlineViewPr>
    <p:cViewPr>
      <p:scale>
        <a:sx n="33" d="100"/>
        <a:sy n="33" d="100"/>
      </p:scale>
      <p:origin x="0" y="-77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1A50702-3C68-4B14-B819-72B57D27F9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0F4880-E690-44D0-8356-A9E7BDBAB0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E6205E-B305-4B90-9534-3C5E99A0275E}" type="datetimeFigureOut">
              <a:rPr lang="en-US" smtClean="0"/>
              <a:t>11/10/2025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B4ACF6-39FD-4B08-A7D5-5BFDC37B46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7C9FD2-2C57-4DE7-8EA4-86DEE80B98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AC623C-86E0-4A85-83FB-F4A716956F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9555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722F1-E430-42A1-A473-1759336AECCE}" type="datetimeFigureOut">
              <a:rPr lang="en-US" smtClean="0"/>
              <a:t>11/10/2025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7D7554-D10C-4E29-B8E6-BB7111FA614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347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D7554-D10C-4E29-B8E6-BB7111FA614F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648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50DD4-66B6-DFB8-A423-5612D312A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F6A115-E078-5583-B4D3-A2907429F0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48B78-25F8-81A5-D8C0-2B584053DA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EFEA2-3EDD-C967-C30F-088EC39B63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D7554-D10C-4E29-B8E6-BB7111FA614F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501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5" y="690511"/>
            <a:ext cx="518582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84555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583" y="737115"/>
            <a:ext cx="4640418" cy="5407091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388461" y="737115"/>
            <a:ext cx="4449712" cy="5407091"/>
          </a:xfrm>
        </p:spPr>
        <p:txBody>
          <a:bodyPr lIns="0" tIns="0" rIns="0" bIns="0" anchor="ctr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E9F5D75-1D8F-F695-81F8-4A6D0C6782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245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1278294"/>
            <a:ext cx="5000318" cy="490414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42169" y="-1"/>
            <a:ext cx="4635426" cy="685799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02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3508311"/>
            <a:ext cx="9923770" cy="1438762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600" y="0"/>
            <a:ext cx="10361995" cy="3429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D179113D-0374-3934-841E-56AD5AFCF9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53828" y="5228488"/>
            <a:ext cx="9923770" cy="136825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227224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5" y="503852"/>
            <a:ext cx="9150675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50153" y="2108722"/>
            <a:ext cx="8552264" cy="4119463"/>
          </a:xfrm>
        </p:spPr>
        <p:txBody>
          <a:bodyPr lIns="0" tIns="0" rIns="0" bIns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BAFC1-3E76-DCE6-3A6D-E0020C5BE8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96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07175C5-CB2F-2BAC-3704-54DCD1BF0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031" y="1068169"/>
            <a:ext cx="10115939" cy="2681549"/>
          </a:xfrm>
        </p:spPr>
        <p:txBody>
          <a:bodyPr anchor="b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1905E-33E7-852F-94E3-8E100B3D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914400"/>
            <a:ext cx="10363200" cy="50292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7799F7-CBB1-9649-7D06-F7EEFD4F0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AFC5CA-DB29-4B8C-C004-72E4EC761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E3CB2D2A-7172-87CE-D493-DAF52D62EB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8031" y="4027047"/>
            <a:ext cx="10115939" cy="176278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069536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4" y="2057401"/>
            <a:ext cx="4627186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68185" y="2057401"/>
            <a:ext cx="4609399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40DF0B-6602-19D4-3110-4659C28780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720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3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C355854D-70C0-E6E1-2A0C-284D00A21AE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5" y="2057401"/>
            <a:ext cx="3068678" cy="4119463"/>
          </a:xfrm>
        </p:spPr>
        <p:txBody>
          <a:bodyPr lIns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457200" indent="-32004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9144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3716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1828800" indent="-320040">
              <a:spcBef>
                <a:spcPts val="100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91727" y="2057401"/>
            <a:ext cx="6085857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7B331F9-6D4A-5020-969F-E961AF374E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4237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and Content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57912CB-B8F8-1E65-094F-AD3220E6C79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3363" y="2061969"/>
            <a:ext cx="4592637" cy="4805362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87262" y="2052736"/>
            <a:ext cx="4490320" cy="480059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09D86D-3DDE-CA24-4CAA-DF6944B9BC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107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68814" y="2057400"/>
            <a:ext cx="3091027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able Placeholder 13">
            <a:extLst>
              <a:ext uri="{FF2B5EF4-FFF2-40B4-BE49-F238E27FC236}">
                <a16:creationId xmlns:a16="http://schemas.microsoft.com/office/drawing/2014/main" id="{EA708189-1532-1BDD-104F-4D8556146CE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097463" y="2051976"/>
            <a:ext cx="6180137" cy="3867538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E0EC71B-95A1-C740-6B1F-F8DF02E2D1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929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2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0AB10A-3CAB-D4C0-3CB1-401461802B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68814" y="2066731"/>
            <a:ext cx="6452876" cy="3867538"/>
          </a:xfrm>
        </p:spPr>
        <p:txBody>
          <a:bodyPr lIns="0">
            <a:norm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2000"/>
            </a:lvl1pPr>
            <a:lvl2pPr>
              <a:lnSpc>
                <a:spcPct val="100000"/>
              </a:lnSpc>
              <a:spcAft>
                <a:spcPts val="600"/>
              </a:spcAft>
              <a:defRPr sz="2000"/>
            </a:lvl2pPr>
            <a:lvl3pPr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defRPr sz="20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7DBA8ADB-B20F-8404-46AB-AF67E25C7C7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69196" y="2066731"/>
            <a:ext cx="3108391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buFont typeface="Arial" panose="020B0604020202020204" pitchFamily="34" charset="0"/>
              <a:buChar char="•"/>
              <a:defRPr sz="2000"/>
            </a:lvl3pPr>
            <a:lvl4pPr marL="1714500" indent="-342900">
              <a:buFont typeface="Arial" panose="020B0604020202020204" pitchFamily="34" charset="0"/>
              <a:buChar char="•"/>
              <a:defRPr sz="2000"/>
            </a:lvl4pPr>
            <a:lvl5pPr marL="2171700" indent="-3429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14D5F7-E70A-5F97-5C8F-95B9E1B6D4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814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CB43608F-0A38-CF4A-4B3B-F1212E786FDE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487488" y="2057400"/>
            <a:ext cx="9790112" cy="388620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5DA3688-07D1-82D9-6818-C95E9A69C2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3572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4" y="690511"/>
            <a:ext cx="496467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D608249-3D60-D3B2-68C5-778D0EA18F2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82286" y="690465"/>
            <a:ext cx="4784372" cy="5253089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4374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82F216-62F1-7E0B-63FD-51C27CDAA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1F31D-B959-2AD8-9208-FF08B574D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2C8C7-5C6C-400B-AEC0-4D8178161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105D6-7B52-4B7D-9473-BCD571A93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AA0A-7090-4FA3-AD1C-CD4570404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2136" y="5943601"/>
            <a:ext cx="968983" cy="6519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spc="1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3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3" r:id="rId2"/>
    <p:sldLayoutId id="2147483692" r:id="rId3"/>
    <p:sldLayoutId id="2147483691" r:id="rId4"/>
    <p:sldLayoutId id="2147483690" r:id="rId5"/>
    <p:sldLayoutId id="2147483689" r:id="rId6"/>
    <p:sldLayoutId id="2147483688" r:id="rId7"/>
    <p:sldLayoutId id="2147483687" r:id="rId8"/>
    <p:sldLayoutId id="2147483686" r:id="rId9"/>
    <p:sldLayoutId id="2147483685" r:id="rId10"/>
    <p:sldLayoutId id="2147483684" r:id="rId11"/>
    <p:sldLayoutId id="2147483682" r:id="rId12"/>
    <p:sldLayoutId id="214748368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portal.cwopa.gov/pacses" TargetMode="Externa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localhost:7081/api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C45EC36-E8EE-65B2-A568-5204C91EAB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1097" y="3588222"/>
            <a:ext cx="8204434" cy="2462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</a:rPr>
              <a:t>Name: 	   Swathi Chittani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latin typeface="Arial" panose="020B0604020202020204" pitchFamily="34" charset="0"/>
              </a:rPr>
              <a:t>Role: 		   Senior Software Engineer (Front End)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latin typeface="Arial" panose="020B0604020202020204" pitchFamily="34" charset="0"/>
              </a:rPr>
              <a:t>Experience: 	   9.6 years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latin typeface="Arial" panose="020B0604020202020204" pitchFamily="34" charset="0"/>
              </a:rPr>
              <a:t>Domains: 	   Public Sector &amp; Healthcare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latin typeface="Arial" panose="020B0604020202020204" pitchFamily="34" charset="0"/>
              </a:rPr>
              <a:t>Specialization: Full-stack ReactJS + ASP.NET + </a:t>
            </a:r>
            <a:r>
              <a:rPr lang="en-US" altLang="en-US" sz="2200" b="1" dirty="0" err="1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</a:rPr>
              <a:t>SqlServer</a:t>
            </a: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latin typeface="Arial" panose="020B0604020202020204" pitchFamily="34" charset="0"/>
              </a:rPr>
              <a:t>LinkedIn: 	   linkedin.com/in/swathi-chittani-11247557</a:t>
            </a:r>
          </a:p>
        </p:txBody>
      </p:sp>
      <p:pic>
        <p:nvPicPr>
          <p:cNvPr id="1027" name="Picture 3" descr="Picture336 1586304570 768x264">
            <a:extLst>
              <a:ext uri="{FF2B5EF4-FFF2-40B4-BE49-F238E27FC236}">
                <a16:creationId xmlns:a16="http://schemas.microsoft.com/office/drawing/2014/main" id="{5135B9C1-67A3-7DD4-0DEB-FFB053177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0052" y="401624"/>
            <a:ext cx="6688822" cy="2299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8822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1401DBA-5437-5D6E-8989-1F70CEB63853}"/>
              </a:ext>
            </a:extLst>
          </p:cNvPr>
          <p:cNvSpPr txBox="1">
            <a:spLocks/>
          </p:cNvSpPr>
          <p:nvPr/>
        </p:nvSpPr>
        <p:spPr>
          <a:xfrm>
            <a:off x="1849867" y="1895411"/>
            <a:ext cx="2772468" cy="15335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B725113-01D6-8A7A-1855-6A0D0D4DD0BB}"/>
              </a:ext>
            </a:extLst>
          </p:cNvPr>
          <p:cNvSpPr txBox="1">
            <a:spLocks/>
          </p:cNvSpPr>
          <p:nvPr/>
        </p:nvSpPr>
        <p:spPr>
          <a:xfrm>
            <a:off x="4379052" y="1305833"/>
            <a:ext cx="6384023" cy="448257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100" b="1" dirty="0">
                <a:solidFill>
                  <a:srgbClr val="92D050"/>
                </a:solidFill>
              </a:rPr>
              <a:t>Introduction</a:t>
            </a:r>
          </a:p>
          <a:p>
            <a:pPr algn="l"/>
            <a:endParaRPr lang="en-US" sz="2100" b="1" dirty="0">
              <a:solidFill>
                <a:srgbClr val="92D050"/>
              </a:solidFill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100" b="1" dirty="0">
                <a:solidFill>
                  <a:srgbClr val="92D050"/>
                </a:solidFill>
              </a:rPr>
              <a:t>Client Portfolio</a:t>
            </a:r>
          </a:p>
          <a:p>
            <a:pPr algn="l"/>
            <a:endParaRPr lang="en-US" sz="2100" b="1" dirty="0">
              <a:solidFill>
                <a:srgbClr val="92D050"/>
              </a:solidFill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100" b="1" dirty="0">
                <a:solidFill>
                  <a:srgbClr val="92D050"/>
                </a:solidFill>
              </a:rPr>
              <a:t>Current Project Overview – PACSES</a:t>
            </a:r>
          </a:p>
          <a:p>
            <a:pPr algn="l"/>
            <a:endParaRPr lang="en-US" sz="2100" b="1" dirty="0">
              <a:solidFill>
                <a:srgbClr val="92D050"/>
              </a:solidFill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100" b="1" dirty="0">
                <a:solidFill>
                  <a:srgbClr val="92D050"/>
                </a:solidFill>
              </a:rPr>
              <a:t> Modernization (CWOPA)Visual aids</a:t>
            </a:r>
          </a:p>
          <a:p>
            <a:pPr algn="l"/>
            <a:endParaRPr lang="en-US" sz="2100" b="1" dirty="0">
              <a:solidFill>
                <a:srgbClr val="92D050"/>
              </a:solidFill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100" b="1" dirty="0">
                <a:solidFill>
                  <a:srgbClr val="92D050"/>
                </a:solidFill>
              </a:rPr>
              <a:t>Application Architecture</a:t>
            </a:r>
          </a:p>
          <a:p>
            <a:pPr algn="l"/>
            <a:endParaRPr lang="en-US" sz="2100" b="1" dirty="0">
              <a:solidFill>
                <a:srgbClr val="92D050"/>
              </a:solidFill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100" b="1" dirty="0">
                <a:solidFill>
                  <a:srgbClr val="92D050"/>
                </a:solidFill>
              </a:rPr>
              <a:t>Technical Contributions</a:t>
            </a:r>
          </a:p>
          <a:p>
            <a:pPr algn="l"/>
            <a:endParaRPr lang="en-US" sz="2100" b="1" dirty="0">
              <a:solidFill>
                <a:srgbClr val="92D050"/>
              </a:solidFill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100" b="1" dirty="0">
                <a:solidFill>
                  <a:srgbClr val="92D050"/>
                </a:solidFill>
              </a:rPr>
              <a:t>Problem-Solving &amp; Performance Optimization</a:t>
            </a:r>
          </a:p>
          <a:p>
            <a:pPr algn="l"/>
            <a:endParaRPr lang="en-US" sz="2100" b="1" dirty="0">
              <a:solidFill>
                <a:srgbClr val="92D050"/>
              </a:solidFill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100" b="1" dirty="0">
                <a:solidFill>
                  <a:srgbClr val="92D050"/>
                </a:solidFill>
              </a:rPr>
              <a:t>Code Snippets &amp; Best Practices</a:t>
            </a:r>
          </a:p>
          <a:p>
            <a:pPr algn="l"/>
            <a:endParaRPr lang="en-US" sz="2100" b="1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1334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97761-0B88-A5E8-0B78-C39173D05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079" y="262487"/>
            <a:ext cx="3099639" cy="663232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2060"/>
                </a:solidFill>
              </a:rPr>
              <a:t>Client Portfolio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A04E6-CD61-B962-4287-DEC1993C32D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266738" y="1057013"/>
            <a:ext cx="9009373" cy="5094466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Commonwealth of Pennsylvania (CWOPA – PACSES Modernization Project, USA)</a:t>
            </a:r>
          </a:p>
          <a:p>
            <a:r>
              <a:rPr lang="en-US" sz="2200" b="1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Role: Senior Software Engineer (ReactJS, ASP.NET Core, Oracle SQL)</a:t>
            </a:r>
          </a:p>
          <a:p>
            <a:r>
              <a:rPr lang="en-US" sz="2200" b="1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Spearheaded the modernization of the PACSES (Public Assistance Child Support Enforcement System), transforming a legacy mainframe system into a modern web-based architecture to issue benefits to the Pennsylvania citizens</a:t>
            </a:r>
          </a:p>
          <a:p>
            <a:r>
              <a:rPr lang="en-US" sz="24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National Health Service (NHS – United Kingdom) </a:t>
            </a:r>
          </a:p>
          <a:p>
            <a:r>
              <a:rPr lang="en-US" sz="2400" b="1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Role:</a:t>
            </a:r>
            <a:r>
              <a:rPr lang="en-US" sz="2400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Senior Software Engineer (Frontend Development)</a:t>
            </a:r>
          </a:p>
          <a:p>
            <a:r>
              <a:rPr lang="en-US" sz="2400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Contributed to the development of </a:t>
            </a:r>
            <a:r>
              <a:rPr lang="en-US" sz="2400" b="1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web applications for patient management and healthcare analytics</a:t>
            </a:r>
            <a:r>
              <a:rPr lang="en-US" sz="2400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under the NHS Digital transformation initiative for maintaining UK citizen Patient Records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4601E-33F5-5714-867D-A0B584DA7C1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688C69-C8AE-CEE6-CC89-20ABEFB1A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692" y="3838005"/>
            <a:ext cx="411757" cy="1671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10EE12E-0B3F-F89F-FC42-8625806A9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7692" y="1155741"/>
            <a:ext cx="406785" cy="30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455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86F71E8-8D71-9405-3A01-01C3B8F86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3181" y="335632"/>
            <a:ext cx="9808773" cy="1427585"/>
          </a:xfrm>
        </p:spPr>
        <p:txBody>
          <a:bodyPr/>
          <a:lstStyle/>
          <a:p>
            <a:r>
              <a:rPr lang="en-US" dirty="0"/>
              <a:t>Current Project Overview</a:t>
            </a:r>
            <a:endParaRPr lang="en-Z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2C90C5-5198-C255-02F9-1608AA49E08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233181" y="1686187"/>
            <a:ext cx="10276513" cy="4490677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Architected and Developed a Modern Web Platform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Transformed a legacy mainframe system into a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modular, service-oriented web architecture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using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ReactJS, ASP.NET Core Web API, and Oracle 12c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Implemented Secure Token-Based Authentication and Authorization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Configured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OAuth 2.0 Authorization Code Flow with PKCE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using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Identity Server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end-to-end secure authentication.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Optimized Performance, Scalability, and Deployment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Enhanced backend performance by replacing cursor-based PL/SQL loops with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BULK COLLECT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MERGE-based SQL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operations, reducing processing time by 40%.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4518A5-1C9D-79F3-349C-3E7AAFD9895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382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9D0E47E-D228-15EB-5886-33E9AA181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5045" y="159392"/>
            <a:ext cx="5000318" cy="729842"/>
          </a:xfrm>
        </p:spPr>
        <p:txBody>
          <a:bodyPr>
            <a:normAutofit/>
          </a:bodyPr>
          <a:lstStyle/>
          <a:p>
            <a:r>
              <a:rPr lang="en-US" dirty="0"/>
              <a:t>ARCHITECTURE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9B024F-59AB-D201-258B-D468036D9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918" y="993797"/>
            <a:ext cx="6950519" cy="5451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118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C15354-374E-4710-792F-592E588BA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1119" y="184666"/>
            <a:ext cx="9808773" cy="922276"/>
          </a:xfrm>
        </p:spPr>
        <p:txBody>
          <a:bodyPr>
            <a:normAutofit fontScale="90000"/>
          </a:bodyPr>
          <a:lstStyle/>
          <a:p>
            <a:r>
              <a:rPr lang="en-US" dirty="0"/>
              <a:t>🧩 </a:t>
            </a:r>
            <a:r>
              <a:rPr lang="en-US" b="1" dirty="0"/>
              <a:t>PACSES – Benefit Issuance Modernization System Architecture Explanation</a:t>
            </a:r>
            <a:endParaRPr lang="en-Z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5D951B-D6C0-AB0A-0FFD-23670BE643E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381118" y="1193335"/>
            <a:ext cx="10810881" cy="566466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User Access &amp; Frontend Deployment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 application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hosted on an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AWS S3 bucket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served through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CloudFront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global accessibility, caching, and HTTPS support.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users (state employees, caseworkers, or administrators) access the system via a browser, they are routed to the React application (e.g.,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https://portal.cwopa.gov/pacses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0" indent="0">
              <a:buNone/>
            </a:pP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Authentication via Identity Server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the user tries to log in, the React app </a:t>
            </a:r>
            <a:r>
              <a:rPr lang="en-US" alt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redirects the user (Redirect URI)</a:t>
            </a: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the </a:t>
            </a:r>
            <a:r>
              <a:rPr lang="en-US" alt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Identity Server (running on port 5000)</a:t>
            </a: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en-US" alt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US" alt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Identity Server</a:t>
            </a: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responsible for </a:t>
            </a:r>
            <a:r>
              <a:rPr lang="en-US" alt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OAuth 2.0 + PKCE authentication</a:t>
            </a: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which securely handles login, MFA, and authorization.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en-US" alt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Identity Server communicates with its </a:t>
            </a:r>
            <a:r>
              <a:rPr lang="en-US" alt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own database (Identity Server DB)</a:t>
            </a: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validate user credentials, roles, and policies.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en-US" alt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en-US" alt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756543-DA8C-CEE2-0E13-19DE61C134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2010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D542008-8017-76E5-ABC0-3240106887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19200" y="306797"/>
            <a:ext cx="10972800" cy="6244406"/>
          </a:xfrm>
        </p:spPr>
        <p:txBody>
          <a:bodyPr>
            <a:normAutofit lnSpcReduction="10000"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Token Response Back to React</a:t>
            </a:r>
          </a:p>
          <a:p>
            <a:endParaRPr lang="en-US" sz="18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After successful login, the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Identity Server issues tokens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—</a:t>
            </a:r>
          </a:p>
          <a:p>
            <a:pPr lvl="1"/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Token: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used for authorization</a:t>
            </a:r>
          </a:p>
          <a:p>
            <a:pPr lvl="1"/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Refresh Token: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re-authentication without re-login</a:t>
            </a:r>
          </a:p>
          <a:p>
            <a:pPr marL="457200" lvl="1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 tokens are securely returned to the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 application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the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Redirect URI callback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https://localhost:3000/auth/callback).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React app stores the tokens.</a:t>
            </a:r>
          </a:p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Data Requests to ASP.NET Core Web API</a:t>
            </a:r>
          </a:p>
          <a:p>
            <a:endParaRPr lang="en-US" sz="18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React app now includes the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Bearer Token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each HTTP request header and makes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API calls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the backend (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https://localhost:7081/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api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/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...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 APIs are part of the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ASP.NET Core Web API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application, which is secured with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JWT Bearer Authentication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API validates the token using the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Identity Server’s public key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before processing the request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 Backend Integration with Oracle Database</a:t>
            </a:r>
          </a:p>
          <a:p>
            <a:endParaRPr lang="en-US" sz="18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Once authentication succeeds, the Web API performs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logic and data operations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by connecting to the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Oracle Server DB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API retrieves or updates data using optimized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PL/SQL procedures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 operations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BULK COLLECT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high-performance data processing.</a:t>
            </a:r>
          </a:p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database contains all benefit issuance, accounting, and case-related data for PACSES.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680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059FD0C-3CC0-6307-C5F3-CCBE0B14A19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24124" y="67111"/>
            <a:ext cx="7038364" cy="6732165"/>
          </a:xfrm>
        </p:spPr>
        <p:txBody>
          <a:bodyPr>
            <a:noAutofit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 Response Back to Frontend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Web API returns results to the React frontend in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JSON format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React UI dynamically renders the data into interactive dashboards, forms, and reports.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Example: When the user checks “Benefit Issuance History,” the API returns the relevant client data in JSON, and the React UI displays it in a table or chart.</a:t>
            </a:r>
          </a:p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 CI/CD &amp; Deployment Pipeline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is developed locally, pushed to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GitHub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triggers a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CI/CD pipeline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pipeline: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Builds the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ASP.NET Core Web API Docker image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Pushes the image to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AWS Elastic Container Registry (ECR)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Deploys the containerized API to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AWS ECS with Fargate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(serverless container hosting).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ensures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automated, scalable, and version-controlled deployments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React app (frontend) is also built and deployed to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S3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using a similar GitHub Actions pipeline.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592F51-55CE-19DC-B632-AD19560BA9D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AAB460-BA27-EACF-5C1D-1E3724986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763" y="3689058"/>
            <a:ext cx="4036024" cy="1905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546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EBC60-AA38-5DEF-3160-0CAA68F3D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755" y="185072"/>
            <a:ext cx="9150675" cy="460882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Key Technologies Used</a:t>
            </a:r>
            <a:endParaRPr lang="en-ZA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C964F-E2D5-D8E7-C513-C47A7E409DF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EE22EB-ACE4-161F-E602-66245CD5469B}"/>
              </a:ext>
            </a:extLst>
          </p:cNvPr>
          <p:cNvSpPr txBox="1"/>
          <p:nvPr/>
        </p:nvSpPr>
        <p:spPr>
          <a:xfrm>
            <a:off x="1057755" y="645954"/>
            <a:ext cx="8522473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Frontend:</a:t>
            </a:r>
            <a:r>
              <a:rPr lang="en-US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ReactJS, Redux, Material UI</a:t>
            </a:r>
          </a:p>
          <a:p>
            <a:r>
              <a:rPr lang="en-US" sz="21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Backend:</a:t>
            </a:r>
            <a:r>
              <a:rPr lang="en-US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ASP.NET Core 6, C#, REST APIs, Swagger, </a:t>
            </a:r>
            <a:r>
              <a:rPr lang="en-US" sz="21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Serilog</a:t>
            </a:r>
            <a:endParaRPr lang="en-US" sz="2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1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Database:</a:t>
            </a:r>
            <a:r>
              <a:rPr lang="en-US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Oracle 12c (with PL/SQL optimization)</a:t>
            </a:r>
          </a:p>
          <a:p>
            <a:r>
              <a:rPr lang="en-US" sz="21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Authentication:</a:t>
            </a:r>
            <a:r>
              <a:rPr lang="en-US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Identity Server 4, OAuth 2.0 with PKCE</a:t>
            </a:r>
          </a:p>
          <a:p>
            <a:r>
              <a:rPr lang="en-US" sz="21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&amp; DevOps:</a:t>
            </a:r>
            <a:r>
              <a:rPr lang="en-US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AWS S3, ECS, ECR, Fargate, GitHub Actions, Docker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1809A1F-7F52-8BBA-F848-96A971E4A73A}"/>
              </a:ext>
            </a:extLst>
          </p:cNvPr>
          <p:cNvSpPr txBox="1">
            <a:spLocks/>
          </p:cNvSpPr>
          <p:nvPr/>
        </p:nvSpPr>
        <p:spPr>
          <a:xfrm>
            <a:off x="1134654" y="2451497"/>
            <a:ext cx="9150675" cy="460882"/>
          </a:xfrm>
          <a:prstGeom prst="rect">
            <a:avLst/>
          </a:prstGeom>
        </p:spPr>
        <p:txBody>
          <a:bodyPr vert="horz" lIns="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Code Snippets:</a:t>
            </a:r>
            <a:endParaRPr lang="en-ZA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E0EDA2-818B-884C-B485-CD820FE7B742}"/>
              </a:ext>
            </a:extLst>
          </p:cNvPr>
          <p:cNvSpPr txBox="1"/>
          <p:nvPr/>
        </p:nvSpPr>
        <p:spPr>
          <a:xfrm>
            <a:off x="1134654" y="2814996"/>
            <a:ext cx="857979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//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src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/authService.js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 {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UserManager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} from "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oidc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-client-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ts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 settings = {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authority: "https://localhost:5000",               	//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IdentityServer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client_id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"react-client",                         		// Registered client ID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redirect_uri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"https://localhost:3000/callback",   	// SPA redirect URL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response_type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"code",                             		// Authorization Code Flow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scope: "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openid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profile api1",                      		// What API / identity info to access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code_challenge_method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"S256"                      	// Enables PKCE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// Create OIDC User Manager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export const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userManager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new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UserManager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(settings);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export const login = () =&gt;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userManager.signinRedirect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();    // Start login redirect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export const logout = () =&gt;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userManager.signoutRedirect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();  // Logout flow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export const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getUser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() =&gt;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userManager.getUser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();         // Retrieve stored token</a:t>
            </a:r>
          </a:p>
        </p:txBody>
      </p:sp>
    </p:spTree>
    <p:extLst>
      <p:ext uri="{BB962C8B-B14F-4D97-AF65-F5344CB8AC3E}">
        <p14:creationId xmlns:p14="http://schemas.microsoft.com/office/powerpoint/2010/main" val="2906152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D94129-1999-7159-E6E3-7D6C478655B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B7CBD1-66F9-EE9A-012D-309DE86EEA9C}"/>
              </a:ext>
            </a:extLst>
          </p:cNvPr>
          <p:cNvSpPr txBox="1"/>
          <p:nvPr/>
        </p:nvSpPr>
        <p:spPr>
          <a:xfrm>
            <a:off x="1238506" y="799664"/>
            <a:ext cx="5405575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Callback.js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 {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useEffect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} from "react";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 {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useNavigate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} from "react-router-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dom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 {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userManager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} from "./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authService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";</a:t>
            </a: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export default function Callback() {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const navigate =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useNavigate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();</a:t>
            </a: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useEffect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(() =&gt; {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userManager.signinRedirectCallback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().then(user =&gt; {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console.log("Token received:",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user.access_token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localStorage.setItem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("user",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JSON.stringify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(user));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navigate("/", { replace: true }); 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})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.catch(err =&gt;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console.error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("Callback error:", err));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}, [navigate]);</a:t>
            </a: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return &lt;p&gt;Completing login...&lt;/p&gt;;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0CB0B6A-1399-AD02-B89D-F0F042899C41}"/>
              </a:ext>
            </a:extLst>
          </p:cNvPr>
          <p:cNvSpPr txBox="1">
            <a:spLocks/>
          </p:cNvSpPr>
          <p:nvPr/>
        </p:nvSpPr>
        <p:spPr>
          <a:xfrm>
            <a:off x="1238506" y="262487"/>
            <a:ext cx="9150675" cy="460882"/>
          </a:xfrm>
          <a:prstGeom prst="rect">
            <a:avLst/>
          </a:prstGeom>
        </p:spPr>
        <p:txBody>
          <a:bodyPr vert="horz" lIns="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Code Snippets:</a:t>
            </a:r>
            <a:endParaRPr lang="en-ZA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250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ADCDB-B7BF-AC56-36AF-A3C96D631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4F34B-0D0E-D89F-90FA-113D4A4A309E}"/>
              </a:ext>
            </a:extLst>
          </p:cNvPr>
          <p:cNvSpPr txBox="1">
            <a:spLocks/>
          </p:cNvSpPr>
          <p:nvPr/>
        </p:nvSpPr>
        <p:spPr>
          <a:xfrm>
            <a:off x="1050764" y="220026"/>
            <a:ext cx="9150675" cy="460882"/>
          </a:xfrm>
          <a:prstGeom prst="rect">
            <a:avLst/>
          </a:prstGeom>
        </p:spPr>
        <p:txBody>
          <a:bodyPr vert="horz" lIns="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ZA" b="1" dirty="0">
                <a:solidFill>
                  <a:schemeClr val="accent6">
                    <a:lumMod val="75000"/>
                  </a:schemeClr>
                </a:solidFill>
              </a:rPr>
              <a:t>Performance Optimization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F0C252D-BED6-E783-25EC-F68722804521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1050764" y="816896"/>
            <a:ext cx="6943944" cy="5909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Frontend Optimizations:</a:t>
            </a: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code-splitting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lazy loading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using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React.lazy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Suspense.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dynamic imports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load modules on demand.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Applied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React.memo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useMemo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useCallback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prevent unnecessary re-renders.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Suggested to integrate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SonarQube scans in CI/CD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detect and fix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smells, unused imports, and inefficiencies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📊 </a:t>
            </a:r>
            <a:r>
              <a:rPr lang="en-US" alt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Monitoring &amp; Analysis: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Integrated Light house audits to track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Largest </a:t>
            </a:r>
            <a:r>
              <a:rPr lang="en-US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Contentful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Paint,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Time to Interactive, Cumulative Layout Shift</a:t>
            </a:r>
            <a:endParaRPr lang="en-US" altLang="en-US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Applied </a:t>
            </a:r>
            <a:r>
              <a:rPr lang="en-US" altLang="en-US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React.memo</a:t>
            </a: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useMemo</a:t>
            </a: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alt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useCallback</a:t>
            </a: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prevent unnecessary re-renders.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Integrated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SonarQube scans in CI/CD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detect and fix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smells, unused imports, and inefficiencies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Pendo Analytics integration to track React pages/components that users visit the most.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98328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CDDC-D73E-4700-52DA-B2F00D215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2F0F2E-5966-5B2C-7D7A-DA218DABF28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3DAFE8-08EC-8D54-96D0-E42816E4E56B}"/>
              </a:ext>
            </a:extLst>
          </p:cNvPr>
          <p:cNvSpPr txBox="1"/>
          <p:nvPr/>
        </p:nvSpPr>
        <p:spPr>
          <a:xfrm>
            <a:off x="1238506" y="522827"/>
            <a:ext cx="5405575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&lt;script&gt;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(function(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apiKey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){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(function(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p,e,n,d,o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){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var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v,w,x,y,z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o=p[d]=p[d]||{};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o._q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=[];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v=['initialize','identify','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updateOptions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','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pageLoad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','track'];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for(w=0,x=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v.length;w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&lt;x;++w)(function(m){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  o[m]=o[m]||function(){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  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o._q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[m===v[0]?'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unshift':'push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']([m].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concat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([].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slice.call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(arguments,0)));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  };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})(v[w]);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y=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e.createElement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(n);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y.async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=!0;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y.src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='https://cdn.pendo.io/agent/static/'+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apiKey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+'/pendo.js';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z=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e.getElementsByTagName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(n)[0];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z.parentNode.insertBefore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y,z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})(window,document,'script','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pendo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');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})('YOUR_PENDO_API_KEY');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&lt;/script&gt;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2EC2E5E-4B82-2A5B-BF0D-FE77268ABF16}"/>
              </a:ext>
            </a:extLst>
          </p:cNvPr>
          <p:cNvSpPr txBox="1">
            <a:spLocks/>
          </p:cNvSpPr>
          <p:nvPr/>
        </p:nvSpPr>
        <p:spPr>
          <a:xfrm>
            <a:off x="1159821" y="103089"/>
            <a:ext cx="9150675" cy="460882"/>
          </a:xfrm>
          <a:prstGeom prst="rect">
            <a:avLst/>
          </a:prstGeom>
        </p:spPr>
        <p:txBody>
          <a:bodyPr vert="horz" lIns="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Pendo Code Snippets:</a:t>
            </a:r>
            <a:endParaRPr lang="en-ZA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3321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01732C-7338-DBA0-BD19-1FA883047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4254" y="2306971"/>
            <a:ext cx="5343244" cy="1308683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70437084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2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8696B"/>
      </a:accent1>
      <a:accent2>
        <a:srgbClr val="95B8BF"/>
      </a:accent2>
      <a:accent3>
        <a:srgbClr val="BFD4D9"/>
      </a:accent3>
      <a:accent4>
        <a:srgbClr val="5B4839"/>
      </a:accent4>
      <a:accent5>
        <a:srgbClr val="C3A398"/>
      </a:accent5>
      <a:accent6>
        <a:srgbClr val="CA553E"/>
      </a:accent6>
      <a:hlink>
        <a:srgbClr val="0563C1"/>
      </a:hlink>
      <a:folHlink>
        <a:srgbClr val="954F72"/>
      </a:folHlink>
    </a:clrScheme>
    <a:fontScheme name="Custom 30">
      <a:majorFont>
        <a:latin typeface="Tisa Offc Serif Pro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accent5">
              <a:lumMod val="20000"/>
              <a:lumOff val="8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78544816_Win32_SL_V10" id="{8934A6D9-B969-498F-A646-4B502FD69C4E}" vid="{AA78C1C8-456D-41A9-83FC-BC8B9A8EE3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FDB7358-0BCB-4DEB-B717-C1D7CC555F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DE3707C-8CAB-4302-B7E1-D32E1543E05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9E9DE5-EFFE-4262-A023-32732F0B66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{F153C4E5-B61C-4B6C-8816-859A53EFEA43}TF3977e381-cba5-49b1-ba43-b5d865517af907ebbda9_win32-372d4d6ae720</Template>
  <TotalTime>434</TotalTime>
  <Words>1537</Words>
  <Application>Microsoft Office PowerPoint</Application>
  <PresentationFormat>Widescreen</PresentationFormat>
  <Paragraphs>177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Tisa Offc Serif Pro</vt:lpstr>
      <vt:lpstr>Univers Light</vt:lpstr>
      <vt:lpstr>Wingdings</vt:lpstr>
      <vt:lpstr>Custom</vt:lpstr>
      <vt:lpstr>PowerPoint Presentation</vt:lpstr>
      <vt:lpstr>PowerPoint Presentation</vt:lpstr>
      <vt:lpstr>Client Portfolio</vt:lpstr>
      <vt:lpstr>Current Project Overview</vt:lpstr>
      <vt:lpstr>ARCHITECTURE </vt:lpstr>
      <vt:lpstr>🧩 PACSES – Benefit Issuance Modernization System Architecture Explanation</vt:lpstr>
      <vt:lpstr>PowerPoint Presentation</vt:lpstr>
      <vt:lpstr>PowerPoint Presentation</vt:lpstr>
      <vt:lpstr>Key Technologies Used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Swathi Chittani</dc:creator>
  <cp:lastModifiedBy>Swathi Chittani</cp:lastModifiedBy>
  <cp:revision>2</cp:revision>
  <dcterms:created xsi:type="dcterms:W3CDTF">2025-11-10T23:48:46Z</dcterms:created>
  <dcterms:modified xsi:type="dcterms:W3CDTF">2025-11-11T07:02:50Z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